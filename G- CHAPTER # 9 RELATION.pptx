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4" r:id="rId2"/>
    <p:sldId id="270" r:id="rId3"/>
    <p:sldId id="273" r:id="rId4"/>
    <p:sldId id="305" r:id="rId5"/>
    <p:sldId id="293" r:id="rId6"/>
    <p:sldId id="30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-744" y="-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7ABC3-8BCF-48D4-AEA9-DC6DAA69EDCD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327E1-434A-40A9-9180-67D86518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9A3BAE-5F5C-46DE-B813-E2848AA89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2F6651F-14BF-437B-A3E3-07E462B48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02A24A-A059-4DDE-8617-A221B990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F3AF393-EFED-41C6-B3BE-F445F3C3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2A4F9D0-8E01-48E5-B4DA-D1C53192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4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7BDC6C-61BE-4D2B-9179-901699E1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818982C-80E4-468F-BDD2-9D9087995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6DA69A4-133B-4A5E-A1A7-516ECB68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9C3128B-05DB-40B0-BB76-FE52516E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8EBF68F-846E-4FBA-B71B-5A3F585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8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54179F-A817-448E-A734-AFFCEDB0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81EF635-79B8-403C-A6E3-79917712E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DEFA318-E6EC-4EDA-BAC3-48801AFF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E8B2928-6CFF-40A1-A7CB-AD40FCD6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6AE646-6485-41CF-B419-132C4D70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CC56F2-E73B-4FBD-851D-B1FEF9B19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7EC0CD-C1A7-43A7-978A-66BE9EC86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EDE8C22-B9ED-4F4D-AB2B-7E8DD506B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432F3EE-F2CB-4F0A-ACE9-D61F9308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B36E0CA-7F56-4323-A24E-C17241F6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419E9B5-AE98-4F15-AFEA-346EDC7D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1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289474-FFE6-47F9-88B5-E9326118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05B6E7F-9D21-4E02-9C64-0A3EBF4D3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49DDDEE-60E2-405E-A63D-18C0A7A08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7771A8A-9F35-4412-B8D8-11EC862F8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22A2306-AA40-4973-A3D5-EE2A509D2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41039EE-EF19-43D0-A748-BA332F61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91B0BA8-7132-40E7-A316-61A2FD5C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38A0DA1-3DCA-4728-9A70-2AD7BD0B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9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3CCC17-FD51-4741-93B7-11E905E2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02DDA8C-76C6-45C3-A328-A393D994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C5AEA57-0089-4506-90B3-F7775228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3138D99-9799-4F11-802B-89F2FDB8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CA2F273-5938-421F-8EE4-6153B198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AFD572E-5985-483A-9B4F-78DF2BAD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683B446-C473-4975-92A1-EEB4DB21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6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E474A3-D3C5-428D-9816-8C643C77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552098B-28F2-493E-B805-C304F21D6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479F5EC-AB8A-4C6A-8605-075A9C6FA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88355FE-41A9-4296-B31C-54C11931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DD19FAE-A83D-4578-9445-4D1538F3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1C5912-372C-45D7-A4B6-2E48EDC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5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8C0EF5-6350-4362-84FC-CE3A652E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9B8391F-B0D0-4F17-B32F-45D8E1D97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8742C5A-2FBE-4586-B7AC-939F650B0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846CC8C-32EF-4704-B83C-75F76821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E99F2BB-4371-404E-B27E-8336ADD8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C1C0AE8-35F6-4F72-87E1-5D30F14C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6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E7388F-978A-4121-9145-0EFB9065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99C4EB3-E6D0-41B2-B260-EA93874CB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B66B96-AB64-4094-8848-42A7D069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33275FF-2824-4282-9A40-D4926029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2C720C-2286-4398-B01E-A7CDEAE5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0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B4B69BB-5013-4EC8-8FC8-451DFC141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0EEA0DA-A98C-4329-B399-B613384BD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9EBA0A2-8379-4BA1-9AB1-5A41A721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899A56-D618-4FCC-B214-412A3E2D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C6848E6-7347-44A9-95F9-5843CCCC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5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2D278B1-7E45-4432-9433-94EA3421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141C3BB-33FA-4FC7-B547-858925DB5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045BEF-CBCB-4E95-B96D-78ACA833A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7E7EA-F048-455A-8232-595AB97A73FB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C6C5CD-83A5-4470-9FA5-4100391C9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09A66D5-7220-4398-83C1-02C1DA9B0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7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533400"/>
            <a:ext cx="30441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sz="3600" spc="-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36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309" y="1583182"/>
            <a:ext cx="11016615" cy="20714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0160" algn="just">
              <a:lnSpc>
                <a:spcPts val="3460"/>
              </a:lnSpc>
            </a:pP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 are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4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460"/>
              </a:lnSpc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often used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 equivalence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4445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</a:t>
            </a:r>
            <a:r>
              <a:rPr sz="3600" spc="-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209" y="1583182"/>
            <a:ext cx="11093450" cy="33800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44450" algn="just">
              <a:lnSpc>
                <a:spcPts val="3460"/>
              </a:lnSpc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of </a:t>
            </a: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43180" algn="just">
              <a:lnSpc>
                <a:spcPct val="90000"/>
              </a:lnSpc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equivalence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of a with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sz="2800" b="1" i="1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When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under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consideration,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delete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 </a:t>
            </a: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equivalence</a:t>
            </a:r>
            <a:r>
              <a:rPr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39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21355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FF0000"/>
                </a:solidFill>
              </a:rPr>
              <a:t>Solution</a:t>
            </a:r>
            <a:endParaRPr sz="48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09" y="1216355"/>
            <a:ext cx="11014710" cy="2506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  <a:tabLst>
                <a:tab pos="6012815" algn="l"/>
              </a:tabLst>
            </a:pPr>
            <a:r>
              <a:rPr sz="3200" spc="-10" dirty="0">
                <a:latin typeface="Calibri"/>
                <a:cs typeface="Calibri"/>
              </a:rPr>
              <a:t>Given  </a:t>
            </a:r>
            <a:r>
              <a:rPr sz="3200" spc="5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equivalence </a:t>
            </a:r>
            <a:r>
              <a:rPr sz="3200" spc="-15" dirty="0">
                <a:latin typeface="Calibri"/>
                <a:cs typeface="Calibri"/>
              </a:rPr>
              <a:t>relation </a:t>
            </a:r>
            <a:endParaRPr lang="en-US" sz="3200" spc="-15" dirty="0">
              <a:latin typeface="Calibri"/>
              <a:cs typeface="Calibri"/>
            </a:endParaRPr>
          </a:p>
          <a:p>
            <a:pPr marL="12700">
              <a:lnSpc>
                <a:spcPts val="3650"/>
              </a:lnSpc>
              <a:spcBef>
                <a:spcPts val="105"/>
              </a:spcBef>
              <a:tabLst>
                <a:tab pos="6012815" algn="l"/>
              </a:tabLst>
            </a:pPr>
            <a:r>
              <a:rPr sz="3200" spc="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R</a:t>
            </a:r>
            <a:r>
              <a:rPr sz="3200" i="1" spc="3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={(1,1), (1,2), </a:t>
            </a:r>
            <a:r>
              <a:rPr sz="3200" spc="-5" dirty="0">
                <a:latin typeface="Calibri"/>
                <a:cs typeface="Calibri"/>
              </a:rPr>
              <a:t>(1,3), (2,1),</a:t>
            </a:r>
            <a:r>
              <a:rPr sz="3200" spc="6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(2,2),</a:t>
            </a:r>
            <a:r>
              <a:rPr sz="3200" spc="-5" dirty="0">
                <a:latin typeface="Calibri"/>
                <a:cs typeface="Calibri"/>
              </a:rPr>
              <a:t>(2,3), (3,1), (3,2), (3,3), (4,4), (5,5)} </a:t>
            </a:r>
            <a:endParaRPr lang="en-US" sz="3200" spc="-5" dirty="0">
              <a:latin typeface="Calibri"/>
              <a:cs typeface="Calibri"/>
            </a:endParaRPr>
          </a:p>
          <a:p>
            <a:pPr marL="12700">
              <a:lnSpc>
                <a:spcPts val="3650"/>
              </a:lnSpc>
              <a:spcBef>
                <a:spcPts val="105"/>
              </a:spcBef>
              <a:tabLst>
                <a:tab pos="6012815" algn="l"/>
              </a:tabLst>
            </a:pPr>
            <a:r>
              <a:rPr sz="3200" dirty="0">
                <a:latin typeface="Calibri"/>
                <a:cs typeface="Calibri"/>
              </a:rPr>
              <a:t>on </a:t>
            </a:r>
            <a:r>
              <a:rPr sz="3200" spc="-10" dirty="0">
                <a:latin typeface="Calibri"/>
                <a:cs typeface="Calibri"/>
              </a:rPr>
              <a:t>set </a:t>
            </a:r>
            <a:r>
              <a:rPr sz="3200" spc="-5" dirty="0">
                <a:latin typeface="Calibri"/>
                <a:cs typeface="Calibri"/>
              </a:rPr>
              <a:t>{1, 2, 3, 4,</a:t>
            </a:r>
            <a:r>
              <a:rPr sz="3200" spc="1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5}.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200" spc="-5" dirty="0">
                <a:solidFill>
                  <a:schemeClr val="accent2">
                    <a:lumMod val="75000"/>
                  </a:schemeClr>
                </a:solidFill>
                <a:latin typeface="Calibri"/>
                <a:cs typeface="Calibri"/>
              </a:rPr>
              <a:t>Find </a:t>
            </a:r>
            <a:r>
              <a:rPr sz="3200" dirty="0">
                <a:solidFill>
                  <a:schemeClr val="accent2">
                    <a:lumMod val="75000"/>
                  </a:schemeClr>
                </a:solidFill>
                <a:latin typeface="Calibri"/>
                <a:cs typeface="Calibri"/>
              </a:rPr>
              <a:t>[1], [2], [3], [4], and</a:t>
            </a:r>
            <a:r>
              <a:rPr sz="3200" spc="65" dirty="0">
                <a:solidFill>
                  <a:schemeClr val="accent2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2">
                    <a:lumMod val="75000"/>
                  </a:schemeClr>
                </a:solidFill>
                <a:latin typeface="Calibri"/>
                <a:cs typeface="Calibri"/>
              </a:rPr>
              <a:t>[5].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3632" y="4484040"/>
            <a:ext cx="1331595" cy="11576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spc="-5" dirty="0">
                <a:latin typeface="Calibri"/>
                <a:cs typeface="Calibri"/>
              </a:rPr>
              <a:t>[4]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{4}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200" spc="-5" dirty="0">
                <a:latin typeface="Calibri"/>
                <a:cs typeface="Calibri"/>
              </a:rPr>
              <a:t>[5]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{5}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5735" y="4359992"/>
            <a:ext cx="2133600" cy="172275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spc="-5" dirty="0">
                <a:latin typeface="Calibri"/>
                <a:cs typeface="Calibri"/>
              </a:rPr>
              <a:t>[1]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spc="-5" dirty="0">
                <a:latin typeface="Calibri"/>
                <a:cs typeface="Calibri"/>
              </a:rPr>
              <a:t>{1, 2,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3}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200" spc="-5" dirty="0">
                <a:latin typeface="Calibri"/>
                <a:cs typeface="Calibri"/>
              </a:rPr>
              <a:t>[2]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spc="-5" dirty="0">
                <a:latin typeface="Calibri"/>
                <a:cs typeface="Calibri"/>
              </a:rPr>
              <a:t>{1, 2, 3}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200" spc="-5" dirty="0">
                <a:latin typeface="Calibri"/>
                <a:cs typeface="Calibri"/>
              </a:rPr>
              <a:t>[3]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spc="-5" dirty="0">
                <a:latin typeface="Calibri"/>
                <a:cs typeface="Calibri"/>
              </a:rPr>
              <a:t>{1, 2, 3}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463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293" y="458800"/>
            <a:ext cx="42900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0" dirty="0">
                <a:solidFill>
                  <a:srgbClr val="FF0000"/>
                </a:solidFill>
              </a:rPr>
              <a:t>Partial</a:t>
            </a:r>
            <a:r>
              <a:rPr sz="4800" spc="-70" dirty="0">
                <a:solidFill>
                  <a:srgbClr val="FF0000"/>
                </a:solidFill>
              </a:rPr>
              <a:t> </a:t>
            </a:r>
            <a:r>
              <a:rPr sz="4800" spc="-5" dirty="0">
                <a:solidFill>
                  <a:srgbClr val="FF0000"/>
                </a:solidFill>
              </a:rPr>
              <a:t>Orderings</a:t>
            </a:r>
            <a:endParaRPr sz="480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09" y="1583182"/>
            <a:ext cx="11016615" cy="4217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libri"/>
                <a:cs typeface="Calibri"/>
              </a:rPr>
              <a:t>Definition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7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3460"/>
              </a:lnSpc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relation </a:t>
            </a:r>
            <a:r>
              <a:rPr sz="3200" i="1" dirty="0">
                <a:latin typeface="Calibri"/>
                <a:cs typeface="Calibri"/>
              </a:rPr>
              <a:t>R </a:t>
            </a:r>
            <a:r>
              <a:rPr sz="3200" dirty="0">
                <a:latin typeface="Calibri"/>
                <a:cs typeface="Calibri"/>
              </a:rPr>
              <a:t>on a </a:t>
            </a:r>
            <a:r>
              <a:rPr sz="3200" spc="-10" dirty="0">
                <a:latin typeface="Calibri"/>
                <a:cs typeface="Calibri"/>
              </a:rPr>
              <a:t>set </a:t>
            </a:r>
            <a:r>
              <a:rPr sz="3200" i="1" dirty="0">
                <a:latin typeface="Calibri"/>
                <a:cs typeface="Calibri"/>
              </a:rPr>
              <a:t>S </a:t>
            </a:r>
            <a:r>
              <a:rPr sz="3200" spc="-5" dirty="0">
                <a:latin typeface="Calibri"/>
                <a:cs typeface="Calibri"/>
              </a:rPr>
              <a:t>is called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i="1" dirty="0">
                <a:latin typeface="Calibri"/>
                <a:cs typeface="Calibri"/>
              </a:rPr>
              <a:t>partial ordering </a:t>
            </a:r>
            <a:r>
              <a:rPr sz="3200" dirty="0">
                <a:latin typeface="Calibri"/>
                <a:cs typeface="Calibri"/>
              </a:rPr>
              <a:t>or </a:t>
            </a:r>
            <a:r>
              <a:rPr sz="3200" spc="-5" dirty="0">
                <a:latin typeface="Calibri"/>
                <a:cs typeface="Calibri"/>
              </a:rPr>
              <a:t>partial </a:t>
            </a:r>
            <a:r>
              <a:rPr sz="3200" spc="-10" dirty="0">
                <a:latin typeface="Calibri"/>
                <a:cs typeface="Calibri"/>
              </a:rPr>
              <a:t>order </a:t>
            </a:r>
            <a:r>
              <a:rPr sz="3200" spc="-5" dirty="0">
                <a:latin typeface="Calibri"/>
                <a:cs typeface="Calibri"/>
              </a:rPr>
              <a:t>if  it is </a:t>
            </a:r>
            <a:r>
              <a:rPr sz="3200" spc="-20" dirty="0">
                <a:latin typeface="Calibri"/>
                <a:cs typeface="Calibri"/>
              </a:rPr>
              <a:t>reflexive, </a:t>
            </a:r>
            <a:r>
              <a:rPr sz="3200" spc="-10" dirty="0">
                <a:latin typeface="Calibri"/>
                <a:cs typeface="Calibri"/>
              </a:rPr>
              <a:t>antisymmetric,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transitive.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700" dirty="0">
              <a:latin typeface="Times New Roman"/>
              <a:cs typeface="Times New Roman"/>
            </a:endParaRPr>
          </a:p>
          <a:p>
            <a:pPr marL="12700" marR="6350" algn="just">
              <a:lnSpc>
                <a:spcPts val="3460"/>
              </a:lnSpc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set </a:t>
            </a:r>
            <a:r>
              <a:rPr sz="3200" i="1" dirty="0">
                <a:latin typeface="Calibri"/>
                <a:cs typeface="Calibri"/>
              </a:rPr>
              <a:t>S </a:t>
            </a:r>
            <a:r>
              <a:rPr sz="3200" spc="-10" dirty="0">
                <a:latin typeface="Calibri"/>
                <a:cs typeface="Calibri"/>
              </a:rPr>
              <a:t>together </a:t>
            </a:r>
            <a:r>
              <a:rPr sz="3200" dirty="0">
                <a:latin typeface="Calibri"/>
                <a:cs typeface="Calibri"/>
              </a:rPr>
              <a:t>with a </a:t>
            </a:r>
            <a:r>
              <a:rPr sz="3200" spc="-5" dirty="0">
                <a:latin typeface="Calibri"/>
                <a:cs typeface="Calibri"/>
              </a:rPr>
              <a:t>partial </a:t>
            </a:r>
            <a:r>
              <a:rPr sz="3200" spc="-10" dirty="0">
                <a:latin typeface="Calibri"/>
                <a:cs typeface="Calibri"/>
              </a:rPr>
              <a:t>ordering </a:t>
            </a:r>
            <a:r>
              <a:rPr sz="3200" i="1" dirty="0">
                <a:latin typeface="Calibri"/>
                <a:cs typeface="Calibri"/>
              </a:rPr>
              <a:t>R </a:t>
            </a:r>
            <a:r>
              <a:rPr sz="3200" spc="-5" dirty="0">
                <a:latin typeface="Calibri"/>
                <a:cs typeface="Calibri"/>
              </a:rPr>
              <a:t>is called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b="1" i="1" dirty="0">
                <a:latin typeface="Calibri"/>
                <a:cs typeface="Calibri"/>
              </a:rPr>
              <a:t>partially  </a:t>
            </a:r>
            <a:r>
              <a:rPr sz="3200" b="1" i="1" spc="-5" dirty="0">
                <a:latin typeface="Calibri"/>
                <a:cs typeface="Calibri"/>
              </a:rPr>
              <a:t>ordered </a:t>
            </a:r>
            <a:r>
              <a:rPr sz="3200" b="1" i="1" spc="-10" dirty="0">
                <a:latin typeface="Calibri"/>
                <a:cs typeface="Calibri"/>
              </a:rPr>
              <a:t>set</a:t>
            </a:r>
            <a:r>
              <a:rPr sz="3200" spc="-10" dirty="0"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or </a:t>
            </a:r>
            <a:r>
              <a:rPr sz="3200" b="1" i="1" spc="-5" dirty="0">
                <a:latin typeface="Calibri"/>
                <a:cs typeface="Calibri"/>
              </a:rPr>
              <a:t>poset</a:t>
            </a:r>
            <a:r>
              <a:rPr sz="3200" spc="-5" dirty="0">
                <a:latin typeface="Calibri"/>
                <a:cs typeface="Calibri"/>
              </a:rPr>
              <a:t>, </a:t>
            </a:r>
            <a:r>
              <a:rPr sz="3200" spc="5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spc="-10" dirty="0">
                <a:latin typeface="Calibri"/>
                <a:cs typeface="Calibri"/>
              </a:rPr>
              <a:t>denoted by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i="1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). </a:t>
            </a:r>
            <a:r>
              <a:rPr sz="3200" spc="-10" dirty="0">
                <a:latin typeface="Calibri"/>
                <a:cs typeface="Calibri"/>
              </a:rPr>
              <a:t>Members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i="1" dirty="0">
                <a:latin typeface="Calibri"/>
                <a:cs typeface="Calibri"/>
              </a:rPr>
              <a:t>S </a:t>
            </a:r>
            <a:r>
              <a:rPr sz="3200" spc="-15" dirty="0">
                <a:latin typeface="Calibri"/>
                <a:cs typeface="Calibri"/>
              </a:rPr>
              <a:t>are  </a:t>
            </a:r>
            <a:r>
              <a:rPr sz="3200" spc="-5" dirty="0">
                <a:latin typeface="Calibri"/>
                <a:cs typeface="Calibri"/>
              </a:rPr>
              <a:t>called </a:t>
            </a:r>
            <a:r>
              <a:rPr sz="3200" i="1" spc="-5" dirty="0">
                <a:latin typeface="Calibri"/>
                <a:cs typeface="Calibri"/>
              </a:rPr>
              <a:t>elements </a:t>
            </a:r>
            <a:r>
              <a:rPr sz="3200" i="1" dirty="0">
                <a:latin typeface="Calibri"/>
                <a:cs typeface="Calibri"/>
              </a:rPr>
              <a:t>of </a:t>
            </a:r>
            <a:r>
              <a:rPr sz="3200" i="1" spc="-5" dirty="0">
                <a:latin typeface="Calibri"/>
                <a:cs typeface="Calibri"/>
              </a:rPr>
              <a:t>the poset</a:t>
            </a:r>
            <a:r>
              <a:rPr sz="3200" spc="-5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40081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FF0000"/>
                </a:solidFill>
              </a:rPr>
              <a:t>Hasse</a:t>
            </a:r>
            <a:r>
              <a:rPr sz="4800" spc="-60" dirty="0">
                <a:solidFill>
                  <a:srgbClr val="FF0000"/>
                </a:solidFill>
              </a:rPr>
              <a:t> </a:t>
            </a:r>
            <a:r>
              <a:rPr sz="4800" spc="-20" dirty="0">
                <a:solidFill>
                  <a:srgbClr val="FF0000"/>
                </a:solidFill>
              </a:rPr>
              <a:t>Diagrams</a:t>
            </a:r>
            <a:endParaRPr sz="48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09" y="1592325"/>
            <a:ext cx="11016615" cy="4194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527685" indent="-515620" algn="just">
              <a:lnSpc>
                <a:spcPct val="100000"/>
              </a:lnSpc>
              <a:buAutoNum type="arabicPeriod"/>
              <a:tabLst>
                <a:tab pos="528320" algn="l"/>
              </a:tabLst>
            </a:pPr>
            <a:r>
              <a:rPr sz="2800" spc="-15" dirty="0">
                <a:latin typeface="Calibri"/>
                <a:cs typeface="Calibri"/>
              </a:rPr>
              <a:t>Start </a:t>
            </a:r>
            <a:r>
              <a:rPr sz="2800" spc="-5" dirty="0">
                <a:latin typeface="Calibri"/>
                <a:cs typeface="Calibri"/>
              </a:rPr>
              <a:t>with the </a:t>
            </a:r>
            <a:r>
              <a:rPr sz="2800" spc="-15" dirty="0">
                <a:latin typeface="Calibri"/>
                <a:cs typeface="Calibri"/>
              </a:rPr>
              <a:t>directed graph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this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relation</a:t>
            </a:r>
            <a:endParaRPr sz="2800" dirty="0">
              <a:latin typeface="Calibri"/>
              <a:cs typeface="Calibri"/>
            </a:endParaRPr>
          </a:p>
          <a:p>
            <a:pPr marL="527685" marR="5080" indent="-515620" algn="just">
              <a:lnSpc>
                <a:spcPts val="3020"/>
              </a:lnSpc>
              <a:spcBef>
                <a:spcPts val="1045"/>
              </a:spcBef>
              <a:buAutoNum type="arabicPeriod"/>
              <a:tabLst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Because a </a:t>
            </a:r>
            <a:r>
              <a:rPr sz="2800" spc="-10" dirty="0">
                <a:latin typeface="Calibri"/>
                <a:cs typeface="Calibri"/>
              </a:rPr>
              <a:t>partial </a:t>
            </a:r>
            <a:r>
              <a:rPr sz="2800" spc="-15" dirty="0">
                <a:latin typeface="Calibri"/>
                <a:cs typeface="Calibri"/>
              </a:rPr>
              <a:t>ordering </a:t>
            </a:r>
            <a:r>
              <a:rPr sz="2800" spc="-10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reflexive, </a:t>
            </a:r>
            <a:r>
              <a:rPr sz="2800" spc="-5" dirty="0">
                <a:latin typeface="Calibri"/>
                <a:cs typeface="Calibri"/>
              </a:rPr>
              <a:t>a loop (a, a) </a:t>
            </a:r>
            <a:r>
              <a:rPr sz="2800" spc="-10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present at </a:t>
            </a:r>
            <a:r>
              <a:rPr sz="2800" spc="-10" dirty="0">
                <a:latin typeface="Calibri"/>
                <a:cs typeface="Calibri"/>
              </a:rPr>
              <a:t>every  </a:t>
            </a:r>
            <a:r>
              <a:rPr sz="2800" spc="-20" dirty="0">
                <a:latin typeface="Calibri"/>
                <a:cs typeface="Calibri"/>
              </a:rPr>
              <a:t>vertex </a:t>
            </a:r>
            <a:r>
              <a:rPr sz="2800" spc="-5" dirty="0">
                <a:latin typeface="Calibri"/>
                <a:cs typeface="Calibri"/>
              </a:rPr>
              <a:t>a. </a:t>
            </a:r>
            <a:r>
              <a:rPr sz="2800" spc="-20" dirty="0">
                <a:latin typeface="Calibri"/>
                <a:cs typeface="Calibri"/>
              </a:rPr>
              <a:t>Remove </a:t>
            </a:r>
            <a:r>
              <a:rPr sz="2800" spc="-5" dirty="0">
                <a:latin typeface="Calibri"/>
                <a:cs typeface="Calibri"/>
              </a:rPr>
              <a:t>these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loops.</a:t>
            </a:r>
            <a:endParaRPr sz="2800" dirty="0">
              <a:latin typeface="Calibri"/>
              <a:cs typeface="Calibri"/>
            </a:endParaRPr>
          </a:p>
          <a:p>
            <a:pPr marL="527685" marR="7620" indent="-515620" algn="just">
              <a:lnSpc>
                <a:spcPts val="3020"/>
              </a:lnSpc>
              <a:spcBef>
                <a:spcPts val="1015"/>
              </a:spcBef>
              <a:buAutoNum type="arabicPeriod"/>
              <a:tabLst>
                <a:tab pos="528320" algn="l"/>
              </a:tabLst>
            </a:pPr>
            <a:r>
              <a:rPr sz="2800" spc="-15" dirty="0">
                <a:latin typeface="Calibri"/>
                <a:cs typeface="Calibri"/>
              </a:rPr>
              <a:t>Next, remove </a:t>
            </a:r>
            <a:r>
              <a:rPr sz="2800" spc="-5" dirty="0">
                <a:latin typeface="Calibri"/>
                <a:cs typeface="Calibri"/>
              </a:rPr>
              <a:t>all edges </a:t>
            </a:r>
            <a:r>
              <a:rPr sz="2800" spc="-10" dirty="0">
                <a:latin typeface="Calibri"/>
                <a:cs typeface="Calibri"/>
              </a:rPr>
              <a:t>that must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partial </a:t>
            </a:r>
            <a:r>
              <a:rPr sz="2800" spc="-15" dirty="0">
                <a:latin typeface="Calibri"/>
                <a:cs typeface="Calibri"/>
              </a:rPr>
              <a:t>ordering </a:t>
            </a:r>
            <a:r>
              <a:rPr sz="2800" spc="-10" dirty="0">
                <a:latin typeface="Calibri"/>
                <a:cs typeface="Calibri"/>
              </a:rPr>
              <a:t>because </a:t>
            </a:r>
            <a:r>
              <a:rPr sz="2800" spc="-5" dirty="0">
                <a:latin typeface="Calibri"/>
                <a:cs typeface="Calibri"/>
              </a:rPr>
              <a:t>of  the </a:t>
            </a:r>
            <a:r>
              <a:rPr sz="2800" spc="-10" dirty="0">
                <a:latin typeface="Calibri"/>
                <a:cs typeface="Calibri"/>
              </a:rPr>
              <a:t>presence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other edges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transitivity.</a:t>
            </a:r>
            <a:endParaRPr sz="2800" dirty="0">
              <a:latin typeface="Calibri"/>
              <a:cs typeface="Calibri"/>
            </a:endParaRPr>
          </a:p>
          <a:p>
            <a:pPr marL="527685" marR="5715" indent="-515620" algn="just">
              <a:lnSpc>
                <a:spcPct val="90000"/>
              </a:lnSpc>
              <a:spcBef>
                <a:spcPts val="955"/>
              </a:spcBef>
              <a:buAutoNum type="arabicPeriod"/>
              <a:tabLst>
                <a:tab pos="528320" algn="l"/>
              </a:tabLst>
            </a:pPr>
            <a:r>
              <a:rPr sz="2800" spc="-35" dirty="0">
                <a:latin typeface="Calibri"/>
                <a:cs typeface="Calibri"/>
              </a:rPr>
              <a:t>Finally, </a:t>
            </a:r>
            <a:r>
              <a:rPr sz="2800" spc="-15" dirty="0">
                <a:latin typeface="Calibri"/>
                <a:cs typeface="Calibri"/>
              </a:rPr>
              <a:t>arrange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edge </a:t>
            </a:r>
            <a:r>
              <a:rPr sz="2800" spc="-5" dirty="0">
                <a:latin typeface="Calibri"/>
                <a:cs typeface="Calibri"/>
              </a:rPr>
              <a:t>so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dirty="0">
                <a:latin typeface="Calibri"/>
                <a:cs typeface="Calibri"/>
              </a:rPr>
              <a:t>initial </a:t>
            </a:r>
            <a:r>
              <a:rPr sz="2800" spc="-20" dirty="0">
                <a:latin typeface="Calibri"/>
                <a:cs typeface="Calibri"/>
              </a:rPr>
              <a:t>vertex </a:t>
            </a:r>
            <a:r>
              <a:rPr sz="2800" spc="-1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below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0" dirty="0">
                <a:latin typeface="Calibri"/>
                <a:cs typeface="Calibri"/>
              </a:rPr>
              <a:t>terminal  </a:t>
            </a:r>
            <a:r>
              <a:rPr sz="2800" spc="-20" dirty="0">
                <a:latin typeface="Calibri"/>
                <a:cs typeface="Calibri"/>
              </a:rPr>
              <a:t>vertex. Remove </a:t>
            </a:r>
            <a:r>
              <a:rPr sz="2800" spc="-5" dirty="0">
                <a:latin typeface="Calibri"/>
                <a:cs typeface="Calibri"/>
              </a:rPr>
              <a:t>all the </a:t>
            </a:r>
            <a:r>
              <a:rPr sz="2800" spc="-20" dirty="0">
                <a:latin typeface="Calibri"/>
                <a:cs typeface="Calibri"/>
              </a:rPr>
              <a:t>arrows </a:t>
            </a:r>
            <a:r>
              <a:rPr sz="2800" spc="-5" dirty="0">
                <a:latin typeface="Calibri"/>
                <a:cs typeface="Calibri"/>
              </a:rPr>
              <a:t>on the </a:t>
            </a:r>
            <a:r>
              <a:rPr sz="2800" spc="-15" dirty="0">
                <a:latin typeface="Calibri"/>
                <a:cs typeface="Calibri"/>
              </a:rPr>
              <a:t>directed </a:t>
            </a:r>
            <a:r>
              <a:rPr sz="2800" spc="-10" dirty="0">
                <a:latin typeface="Calibri"/>
                <a:cs typeface="Calibri"/>
              </a:rPr>
              <a:t>edges, because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0" dirty="0">
                <a:latin typeface="Calibri"/>
                <a:cs typeface="Calibri"/>
              </a:rPr>
              <a:t>edges  </a:t>
            </a:r>
            <a:r>
              <a:rPr sz="2800" spc="-15" dirty="0">
                <a:latin typeface="Calibri"/>
                <a:cs typeface="Calibri"/>
              </a:rPr>
              <a:t>point “upward” </a:t>
            </a:r>
            <a:r>
              <a:rPr sz="2800" spc="-25" dirty="0">
                <a:latin typeface="Calibri"/>
                <a:cs typeface="Calibri"/>
              </a:rPr>
              <a:t>toward </a:t>
            </a:r>
            <a:r>
              <a:rPr sz="2800" spc="-5" dirty="0">
                <a:latin typeface="Calibri"/>
                <a:cs typeface="Calibri"/>
              </a:rPr>
              <a:t>their </a:t>
            </a:r>
            <a:r>
              <a:rPr sz="2800" spc="-10" dirty="0">
                <a:latin typeface="Calibri"/>
                <a:cs typeface="Calibri"/>
              </a:rPr>
              <a:t>terminal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vertex.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E247056-D38A-42A1-914E-1A38D9E52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FDB8592-2937-4CFD-B680-D5AE19507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877" y="2571750"/>
            <a:ext cx="6879101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0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393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Equivalence</vt:lpstr>
      <vt:lpstr>Equivalence Class</vt:lpstr>
      <vt:lpstr>Solution</vt:lpstr>
      <vt:lpstr>Partial Orderings</vt:lpstr>
      <vt:lpstr>Hasse Diagrams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7</dc:title>
  <dc:creator>Saima Ashraf</dc:creator>
  <cp:lastModifiedBy>R.C</cp:lastModifiedBy>
  <cp:revision>22</cp:revision>
  <dcterms:created xsi:type="dcterms:W3CDTF">2020-12-14T23:18:16Z</dcterms:created>
  <dcterms:modified xsi:type="dcterms:W3CDTF">2021-12-01T06:39:08Z</dcterms:modified>
</cp:coreProperties>
</file>